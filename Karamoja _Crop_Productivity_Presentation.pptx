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14"/>
  </p:notesMasterIdLst>
  <p:handoutMasterIdLst>
    <p:handoutMasterId r:id="rId15"/>
  </p:handoutMasterIdLst>
  <p:sldIdLst>
    <p:sldId id="312" r:id="rId5"/>
    <p:sldId id="304" r:id="rId6"/>
    <p:sldId id="307" r:id="rId7"/>
    <p:sldId id="281" r:id="rId8"/>
    <p:sldId id="314" r:id="rId9"/>
    <p:sldId id="318" r:id="rId10"/>
    <p:sldId id="319" r:id="rId11"/>
    <p:sldId id="321" r:id="rId12"/>
    <p:sldId id="317"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388" autoAdjust="0"/>
  </p:normalViewPr>
  <p:slideViewPr>
    <p:cSldViewPr snapToGrid="0" snapToObjects="1">
      <p:cViewPr>
        <p:scale>
          <a:sx n="75" d="100"/>
          <a:sy n="75" d="100"/>
        </p:scale>
        <p:origin x="540" y="-22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1:00.09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1:00.809"/>
    </inkml:context>
    <inkml:brush xml:id="br0">
      <inkml:brushProperty name="width" value="0.035" units="cm"/>
      <inkml:brushProperty name="height" value="0.035" units="cm"/>
      <inkml:brushProperty name="color" value="#E71224"/>
    </inkml:brush>
  </inkml:definitions>
  <inkml:trace contextRef="#ctx0" brushRef="#br0">1 0 24575,'6'0'0,"3"0"-8191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4:53.060"/>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4:53.18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4:54.106"/>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4:54.707"/>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14:04:54.914"/>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2/21/2026</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8F63A3B-78C7-47BE-AE5E-E10140E04643}" type="slidenum">
              <a:rPr lang="en-US" smtClean="0"/>
              <a:pPr/>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18587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02990931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86775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9751689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2/21/2026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04722088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2/21/2026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sp>
        <p:nvSpPr>
          <p:cNvPr id="6" name="Freeform: Shape 5">
            <a:extLst>
              <a:ext uri="{FF2B5EF4-FFF2-40B4-BE49-F238E27FC236}">
                <a16:creationId xmlns:a16="http://schemas.microsoft.com/office/drawing/2014/main" id="{E5343933-EA9E-261C-CC0B-BD1602414F66}"/>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0471F4E1-DDF1-19DD-F017-EE7318D436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932681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2/21/2026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9447C32F-928A-C67F-0FD0-7A547529A191}"/>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15F37DE6-09A2-36FD-716C-CBC245F6E9BF}"/>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87727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BF1B0640-BFD4-1B38-3140-158F8FF9E8A8}"/>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080070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3A8D30F3-E7EF-1ED9-A307-D8808F47AA8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43867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84350039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77405109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773164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04123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086549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3164477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820336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993969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2813126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168683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1043056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2/21/2026</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3218697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10" r:id="rId16"/>
    <p:sldLayoutId id="2147483712" r:id="rId17"/>
    <p:sldLayoutId id="2147483713" r:id="rId18"/>
    <p:sldLayoutId id="2147483714" r:id="rId19"/>
    <p:sldLayoutId id="2147483715" r:id="rId20"/>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customXml" Target="../ink/ink7.xml"/><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media/image11.png"/><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p:txBody>
          <a:bodyPr anchor="ctr"/>
          <a:lstStyle/>
          <a:p>
            <a:r>
              <a:rPr lang="en-US" dirty="0"/>
              <a:t>Karamoja Crop Productivity &amp; Food Security Analysis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6CF4082-2459-4992-2CA7-BA878F61EE80}"/>
                  </a:ext>
                </a:extLst>
              </p14:cNvPr>
              <p14:cNvContentPartPr/>
              <p14:nvPr/>
            </p14:nvContentPartPr>
            <p14:xfrm>
              <a:off x="1701914" y="928108"/>
              <a:ext cx="360" cy="360"/>
            </p14:xfrm>
          </p:contentPart>
        </mc:Choice>
        <mc:Fallback>
          <p:pic>
            <p:nvPicPr>
              <p:cNvPr id="3" name="Ink 2">
                <a:extLst>
                  <a:ext uri="{FF2B5EF4-FFF2-40B4-BE49-F238E27FC236}">
                    <a16:creationId xmlns:a16="http://schemas.microsoft.com/office/drawing/2014/main" id="{36CF4082-2459-4992-2CA7-BA878F61EE80}"/>
                  </a:ext>
                </a:extLst>
              </p:cNvPr>
              <p:cNvPicPr/>
              <p:nvPr/>
            </p:nvPicPr>
            <p:blipFill>
              <a:blip r:embed="rId4"/>
              <a:stretch>
                <a:fillRect/>
              </a:stretch>
            </p:blipFill>
            <p:spPr>
              <a:xfrm>
                <a:off x="1695794" y="92198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3F67636F-9062-4630-A0DB-F985093376D8}"/>
                  </a:ext>
                </a:extLst>
              </p14:cNvPr>
              <p14:cNvContentPartPr/>
              <p14:nvPr/>
            </p14:nvContentPartPr>
            <p14:xfrm>
              <a:off x="1336154" y="1645588"/>
              <a:ext cx="5760" cy="360"/>
            </p14:xfrm>
          </p:contentPart>
        </mc:Choice>
        <mc:Fallback>
          <p:pic>
            <p:nvPicPr>
              <p:cNvPr id="4" name="Ink 3">
                <a:extLst>
                  <a:ext uri="{FF2B5EF4-FFF2-40B4-BE49-F238E27FC236}">
                    <a16:creationId xmlns:a16="http://schemas.microsoft.com/office/drawing/2014/main" id="{3F67636F-9062-4630-A0DB-F985093376D8}"/>
                  </a:ext>
                </a:extLst>
              </p:cNvPr>
              <p:cNvPicPr/>
              <p:nvPr/>
            </p:nvPicPr>
            <p:blipFill>
              <a:blip r:embed="rId6"/>
              <a:stretch>
                <a:fillRect/>
              </a:stretch>
            </p:blipFill>
            <p:spPr>
              <a:xfrm>
                <a:off x="1330034" y="1639468"/>
                <a:ext cx="18000" cy="12600"/>
              </a:xfrm>
              <a:prstGeom prst="rect">
                <a:avLst/>
              </a:prstGeom>
            </p:spPr>
          </p:pic>
        </mc:Fallback>
      </mc:AlternateContent>
      <p:grpSp>
        <p:nvGrpSpPr>
          <p:cNvPr id="11" name="Group 10">
            <a:extLst>
              <a:ext uri="{FF2B5EF4-FFF2-40B4-BE49-F238E27FC236}">
                <a16:creationId xmlns:a16="http://schemas.microsoft.com/office/drawing/2014/main" id="{2639A708-E349-1D6A-B2B0-11F36F5BA74D}"/>
              </a:ext>
            </a:extLst>
          </p:cNvPr>
          <p:cNvGrpSpPr/>
          <p:nvPr/>
        </p:nvGrpSpPr>
        <p:grpSpPr>
          <a:xfrm>
            <a:off x="5978354" y="2700388"/>
            <a:ext cx="360" cy="360"/>
            <a:chOff x="5978354" y="2700388"/>
            <a:chExt cx="360" cy="36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283D396E-08C1-10DB-FABA-093D6DC4F208}"/>
                    </a:ext>
                  </a:extLst>
                </p14:cNvPr>
                <p14:cNvContentPartPr/>
                <p14:nvPr/>
              </p14:nvContentPartPr>
              <p14:xfrm>
                <a:off x="5978354" y="2700388"/>
                <a:ext cx="360" cy="360"/>
              </p14:xfrm>
            </p:contentPart>
          </mc:Choice>
          <mc:Fallback>
            <p:pic>
              <p:nvPicPr>
                <p:cNvPr id="5" name="Ink 4">
                  <a:extLst>
                    <a:ext uri="{FF2B5EF4-FFF2-40B4-BE49-F238E27FC236}">
                      <a16:creationId xmlns:a16="http://schemas.microsoft.com/office/drawing/2014/main" id="{283D396E-08C1-10DB-FABA-093D6DC4F208}"/>
                    </a:ext>
                  </a:extLst>
                </p:cNvPr>
                <p:cNvPicPr/>
                <p:nvPr/>
              </p:nvPicPr>
              <p:blipFill>
                <a:blip r:embed="rId4"/>
                <a:stretch>
                  <a:fillRect/>
                </a:stretch>
              </p:blipFill>
              <p:spPr>
                <a:xfrm>
                  <a:off x="5972234" y="269426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35B31523-09E7-4D4A-4120-9467B37B3D46}"/>
                    </a:ext>
                  </a:extLst>
                </p14:cNvPr>
                <p14:cNvContentPartPr/>
                <p14:nvPr/>
              </p14:nvContentPartPr>
              <p14:xfrm>
                <a:off x="5978354" y="2700388"/>
                <a:ext cx="360" cy="360"/>
              </p14:xfrm>
            </p:contentPart>
          </mc:Choice>
          <mc:Fallback>
            <p:pic>
              <p:nvPicPr>
                <p:cNvPr id="6" name="Ink 5">
                  <a:extLst>
                    <a:ext uri="{FF2B5EF4-FFF2-40B4-BE49-F238E27FC236}">
                      <a16:creationId xmlns:a16="http://schemas.microsoft.com/office/drawing/2014/main" id="{35B31523-09E7-4D4A-4120-9467B37B3D46}"/>
                    </a:ext>
                  </a:extLst>
                </p:cNvPr>
                <p:cNvPicPr/>
                <p:nvPr/>
              </p:nvPicPr>
              <p:blipFill>
                <a:blip r:embed="rId4"/>
                <a:stretch>
                  <a:fillRect/>
                </a:stretch>
              </p:blipFill>
              <p:spPr>
                <a:xfrm>
                  <a:off x="5972234" y="2694268"/>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7D8771FB-1386-6984-AB10-33D4DB649157}"/>
                  </a:ext>
                </a:extLst>
              </p14:cNvPr>
              <p14:cNvContentPartPr/>
              <p14:nvPr/>
            </p14:nvContentPartPr>
            <p14:xfrm>
              <a:off x="5908154" y="3066148"/>
              <a:ext cx="360" cy="360"/>
            </p14:xfrm>
          </p:contentPart>
        </mc:Choice>
        <mc:Fallback>
          <p:pic>
            <p:nvPicPr>
              <p:cNvPr id="7" name="Ink 6">
                <a:extLst>
                  <a:ext uri="{FF2B5EF4-FFF2-40B4-BE49-F238E27FC236}">
                    <a16:creationId xmlns:a16="http://schemas.microsoft.com/office/drawing/2014/main" id="{7D8771FB-1386-6984-AB10-33D4DB649157}"/>
                  </a:ext>
                </a:extLst>
              </p:cNvPr>
              <p:cNvPicPr/>
              <p:nvPr/>
            </p:nvPicPr>
            <p:blipFill>
              <a:blip r:embed="rId4"/>
              <a:stretch>
                <a:fillRect/>
              </a:stretch>
            </p:blipFill>
            <p:spPr>
              <a:xfrm>
                <a:off x="5902034" y="3060028"/>
                <a:ext cx="12600" cy="12600"/>
              </a:xfrm>
              <a:prstGeom prst="rect">
                <a:avLst/>
              </a:prstGeom>
            </p:spPr>
          </p:pic>
        </mc:Fallback>
      </mc:AlternateContent>
      <p:grpSp>
        <p:nvGrpSpPr>
          <p:cNvPr id="10" name="Group 9">
            <a:extLst>
              <a:ext uri="{FF2B5EF4-FFF2-40B4-BE49-F238E27FC236}">
                <a16:creationId xmlns:a16="http://schemas.microsoft.com/office/drawing/2014/main" id="{5258F869-55A9-3E17-C422-D67ADB3B0C26}"/>
              </a:ext>
            </a:extLst>
          </p:cNvPr>
          <p:cNvGrpSpPr/>
          <p:nvPr/>
        </p:nvGrpSpPr>
        <p:grpSpPr>
          <a:xfrm>
            <a:off x="5654714" y="2995948"/>
            <a:ext cx="360" cy="360"/>
            <a:chOff x="5654714" y="2995948"/>
            <a:chExt cx="360" cy="360"/>
          </a:xfrm>
        </p:grpSpPr>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DB357D55-5B2A-826E-CE60-EA0F50E01330}"/>
                    </a:ext>
                  </a:extLst>
                </p14:cNvPr>
                <p14:cNvContentPartPr/>
                <p14:nvPr/>
              </p14:nvContentPartPr>
              <p14:xfrm>
                <a:off x="5654714" y="2995948"/>
                <a:ext cx="360" cy="360"/>
              </p14:xfrm>
            </p:contentPart>
          </mc:Choice>
          <mc:Fallback>
            <p:pic>
              <p:nvPicPr>
                <p:cNvPr id="8" name="Ink 7">
                  <a:extLst>
                    <a:ext uri="{FF2B5EF4-FFF2-40B4-BE49-F238E27FC236}">
                      <a16:creationId xmlns:a16="http://schemas.microsoft.com/office/drawing/2014/main" id="{DB357D55-5B2A-826E-CE60-EA0F50E01330}"/>
                    </a:ext>
                  </a:extLst>
                </p:cNvPr>
                <p:cNvPicPr/>
                <p:nvPr/>
              </p:nvPicPr>
              <p:blipFill>
                <a:blip r:embed="rId4"/>
                <a:stretch>
                  <a:fillRect/>
                </a:stretch>
              </p:blipFill>
              <p:spPr>
                <a:xfrm>
                  <a:off x="5648594" y="298982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2DC18898-702A-F094-717C-80B09F840493}"/>
                    </a:ext>
                  </a:extLst>
                </p14:cNvPr>
                <p14:cNvContentPartPr/>
                <p14:nvPr/>
              </p14:nvContentPartPr>
              <p14:xfrm>
                <a:off x="5654714" y="2995948"/>
                <a:ext cx="360" cy="360"/>
              </p14:xfrm>
            </p:contentPart>
          </mc:Choice>
          <mc:Fallback>
            <p:pic>
              <p:nvPicPr>
                <p:cNvPr id="9" name="Ink 8">
                  <a:extLst>
                    <a:ext uri="{FF2B5EF4-FFF2-40B4-BE49-F238E27FC236}">
                      <a16:creationId xmlns:a16="http://schemas.microsoft.com/office/drawing/2014/main" id="{2DC18898-702A-F094-717C-80B09F840493}"/>
                    </a:ext>
                  </a:extLst>
                </p:cNvPr>
                <p:cNvPicPr/>
                <p:nvPr/>
              </p:nvPicPr>
              <p:blipFill>
                <a:blip r:embed="rId4"/>
                <a:stretch>
                  <a:fillRect/>
                </a:stretch>
              </p:blipFill>
              <p:spPr>
                <a:xfrm>
                  <a:off x="5648594" y="2989828"/>
                  <a:ext cx="12600" cy="12600"/>
                </a:xfrm>
                <a:prstGeom prst="rect">
                  <a:avLst/>
                </a:prstGeom>
              </p:spPr>
            </p:pic>
          </mc:Fallback>
        </mc:AlternateContent>
      </p:gr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p:txBody>
          <a:bodyPr/>
          <a:lstStyle/>
          <a:p>
            <a:r>
              <a:rPr lang="en-US" dirty="0"/>
              <a:t>Why This Analysis Matters</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
        <p:nvSpPr>
          <p:cNvPr id="7" name="Rectangle 3">
            <a:extLst>
              <a:ext uri="{FF2B5EF4-FFF2-40B4-BE49-F238E27FC236}">
                <a16:creationId xmlns:a16="http://schemas.microsoft.com/office/drawing/2014/main" id="{C6F77A54-342A-FE3C-23D8-FF2C98829A44}"/>
              </a:ext>
            </a:extLst>
          </p:cNvPr>
          <p:cNvSpPr>
            <a:spLocks noGrp="1" noChangeArrowheads="1"/>
          </p:cNvSpPr>
          <p:nvPr>
            <p:ph idx="1"/>
          </p:nvPr>
        </p:nvSpPr>
        <p:spPr bwMode="auto">
          <a:xfrm>
            <a:off x="914400" y="3976647"/>
            <a:ext cx="580479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Karamoja producing enough food for its population?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Which districts are underperforming?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Where should we invest?</a:t>
            </a:r>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8834511" y="1061623"/>
            <a:ext cx="2591516" cy="4739104"/>
          </a:xfrm>
        </p:spPr>
        <p:txBody>
          <a:bodyPr/>
          <a:lstStyle/>
          <a:p>
            <a:br>
              <a:rPr lang="en-US" dirty="0"/>
            </a:br>
            <a:r>
              <a:rPr lang="en-US" dirty="0"/>
              <a:t>Overview of Karamoja’s Agricultural Landscape</a:t>
            </a:r>
          </a:p>
        </p:txBody>
      </p:sp>
      <p:sp>
        <p:nvSpPr>
          <p:cNvPr id="17" name="Picture Placeholder 16">
            <a:extLst>
              <a:ext uri="{FF2B5EF4-FFF2-40B4-BE49-F238E27FC236}">
                <a16:creationId xmlns:a16="http://schemas.microsoft.com/office/drawing/2014/main" id="{172A50D0-848D-253A-5FAE-DAC9FF80F0E7}"/>
              </a:ext>
            </a:extLst>
          </p:cNvPr>
          <p:cNvSpPr>
            <a:spLocks noGrp="1"/>
          </p:cNvSpPr>
          <p:nvPr>
            <p:ph type="pic" sz="quarter" idx="11"/>
          </p:nvPr>
        </p:nvSpPr>
        <p:spPr>
          <a:xfrm>
            <a:off x="443345" y="0"/>
            <a:ext cx="8129155" cy="6359525"/>
          </a:xfrm>
        </p:spPr>
      </p:sp>
      <p:pic>
        <p:nvPicPr>
          <p:cNvPr id="21" name="Picture 20">
            <a:extLst>
              <a:ext uri="{FF2B5EF4-FFF2-40B4-BE49-F238E27FC236}">
                <a16:creationId xmlns:a16="http://schemas.microsoft.com/office/drawing/2014/main" id="{1777A71F-87B2-4BD9-4898-0B4923CDA029}"/>
              </a:ext>
            </a:extLst>
          </p:cNvPr>
          <p:cNvPicPr>
            <a:picLocks noChangeAspect="1"/>
          </p:cNvPicPr>
          <p:nvPr/>
        </p:nvPicPr>
        <p:blipFill>
          <a:blip r:embed="rId3"/>
          <a:stretch>
            <a:fillRect/>
          </a:stretch>
        </p:blipFill>
        <p:spPr>
          <a:xfrm>
            <a:off x="443344" y="254000"/>
            <a:ext cx="8129155" cy="6105525"/>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3863407" cy="911225"/>
          </a:xfrm>
        </p:spPr>
        <p:txBody>
          <a:bodyPr/>
          <a:lstStyle/>
          <a:p>
            <a:r>
              <a:rPr lang="en-US" dirty="0"/>
              <a:t>Food Security Intensity Across Karamoja</a:t>
            </a:r>
          </a:p>
        </p:txBody>
      </p:sp>
      <p:sp>
        <p:nvSpPr>
          <p:cNvPr id="5" name="Rectangle 2">
            <a:extLst>
              <a:ext uri="{FF2B5EF4-FFF2-40B4-BE49-F238E27FC236}">
                <a16:creationId xmlns:a16="http://schemas.microsoft.com/office/drawing/2014/main" id="{0D6BC531-DFC1-3B66-69AE-1A7CE8982183}"/>
              </a:ext>
            </a:extLst>
          </p:cNvPr>
          <p:cNvSpPr>
            <a:spLocks noGrp="1" noChangeArrowheads="1"/>
          </p:cNvSpPr>
          <p:nvPr>
            <p:ph idx="1"/>
          </p:nvPr>
        </p:nvSpPr>
        <p:spPr bwMode="auto">
          <a:xfrm>
            <a:off x="914400" y="4325202"/>
            <a:ext cx="36449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Green areas → High production per person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 areas → At risk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Variation is significant</a:t>
            </a:r>
          </a:p>
        </p:txBody>
      </p:sp>
      <p:sp>
        <p:nvSpPr>
          <p:cNvPr id="8" name="Picture Placeholder 7">
            <a:extLst>
              <a:ext uri="{FF2B5EF4-FFF2-40B4-BE49-F238E27FC236}">
                <a16:creationId xmlns:a16="http://schemas.microsoft.com/office/drawing/2014/main" id="{0FCF8403-F30A-6782-9C8D-B0E7787744BC}"/>
              </a:ext>
            </a:extLst>
          </p:cNvPr>
          <p:cNvSpPr>
            <a:spLocks noGrp="1"/>
          </p:cNvSpPr>
          <p:nvPr>
            <p:ph type="pic" sz="quarter" idx="11"/>
          </p:nvPr>
        </p:nvSpPr>
        <p:spPr>
          <a:xfrm>
            <a:off x="4777808" y="410780"/>
            <a:ext cx="6981082" cy="6447220"/>
          </a:xfrm>
        </p:spPr>
      </p:sp>
      <p:pic>
        <p:nvPicPr>
          <p:cNvPr id="10" name="Picture 9">
            <a:extLst>
              <a:ext uri="{FF2B5EF4-FFF2-40B4-BE49-F238E27FC236}">
                <a16:creationId xmlns:a16="http://schemas.microsoft.com/office/drawing/2014/main" id="{0569DF48-D901-6B58-4B6E-7D4C687E9B40}"/>
              </a:ext>
            </a:extLst>
          </p:cNvPr>
          <p:cNvPicPr>
            <a:picLocks noChangeAspect="1"/>
          </p:cNvPicPr>
          <p:nvPr/>
        </p:nvPicPr>
        <p:blipFill>
          <a:blip r:embed="rId3"/>
          <a:stretch>
            <a:fillRect/>
          </a:stretch>
        </p:blipFill>
        <p:spPr>
          <a:xfrm>
            <a:off x="4777806" y="410781"/>
            <a:ext cx="7414193" cy="5960386"/>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5"/>
            <a:ext cx="7043617" cy="796926"/>
          </a:xfrm>
        </p:spPr>
        <p:txBody>
          <a:bodyPr/>
          <a:lstStyle/>
          <a:p>
            <a:r>
              <a:rPr lang="en-US" b="1" dirty="0"/>
              <a:t>Population vs Yield</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4373564"/>
            <a:ext cx="7043618" cy="1668420"/>
          </a:xfrm>
        </p:spPr>
        <p:txBody>
          <a:bodyPr>
            <a:normAutofit/>
          </a:bodyPr>
          <a:lstStyle/>
          <a:p>
            <a:r>
              <a:rPr lang="en-US" sz="1400" dirty="0"/>
              <a:t>-Across both subcounty and district levels, population does not appear to strongly influence total yield per hectare. Productivity differences are likely driven by agricultural conditions, resource access, or management practices rather than population size.</a:t>
            </a:r>
          </a:p>
          <a:p>
            <a:endParaRPr lang="en-US" sz="1400" dirty="0"/>
          </a:p>
          <a:p>
            <a:r>
              <a:rPr lang="en-US" sz="1400" dirty="0"/>
              <a:t>-This suggests that increasing population alone will not necessarily improve production outcomes — targeted improvements in agricultural efficiency and inputs would likely have greater impact.</a:t>
            </a:r>
          </a:p>
        </p:txBody>
      </p:sp>
      <p:pic>
        <p:nvPicPr>
          <p:cNvPr id="14" name="Picture 13">
            <a:extLst>
              <a:ext uri="{FF2B5EF4-FFF2-40B4-BE49-F238E27FC236}">
                <a16:creationId xmlns:a16="http://schemas.microsoft.com/office/drawing/2014/main" id="{51FD56F1-2525-26C4-7DEC-7F6727481419}"/>
              </a:ext>
            </a:extLst>
          </p:cNvPr>
          <p:cNvPicPr>
            <a:picLocks noChangeAspect="1"/>
          </p:cNvPicPr>
          <p:nvPr/>
        </p:nvPicPr>
        <p:blipFill>
          <a:blip r:embed="rId3"/>
          <a:stretch>
            <a:fillRect/>
          </a:stretch>
        </p:blipFill>
        <p:spPr>
          <a:xfrm>
            <a:off x="4267200" y="1982788"/>
            <a:ext cx="3657600" cy="2390775"/>
          </a:xfrm>
          <a:prstGeom prst="rect">
            <a:avLst/>
          </a:prstGeom>
        </p:spPr>
      </p:pic>
      <p:pic>
        <p:nvPicPr>
          <p:cNvPr id="16" name="Picture 15">
            <a:extLst>
              <a:ext uri="{FF2B5EF4-FFF2-40B4-BE49-F238E27FC236}">
                <a16:creationId xmlns:a16="http://schemas.microsoft.com/office/drawing/2014/main" id="{47544311-3215-4E38-D446-9887E0EA70F7}"/>
              </a:ext>
            </a:extLst>
          </p:cNvPr>
          <p:cNvPicPr>
            <a:picLocks noChangeAspect="1"/>
          </p:cNvPicPr>
          <p:nvPr/>
        </p:nvPicPr>
        <p:blipFill>
          <a:blip r:embed="rId4"/>
          <a:stretch>
            <a:fillRect/>
          </a:stretch>
        </p:blipFill>
        <p:spPr>
          <a:xfrm>
            <a:off x="7886617" y="1982788"/>
            <a:ext cx="3762375" cy="2428875"/>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p:txBody>
          <a:bodyPr/>
          <a:lstStyle/>
          <a:p>
            <a:r>
              <a:rPr lang="en-US" dirty="0"/>
              <a:t>Maize vs Sorghum Performance</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p:txBody>
          <a:bodyPr>
            <a:normAutofit lnSpcReduction="10000"/>
          </a:bodyPr>
          <a:lstStyle/>
          <a:p>
            <a:r>
              <a:rPr lang="en-US" sz="2200" dirty="0"/>
              <a:t>The 2017 Karamoja crop data shows a clear imbalance between productivity, land allocation, and food demand. Although maize yields are nearly four times higher per hectare than sorghum, most agricultural land is allocated to sorghum, likely due to its drought tolerance and lower climate risk.</a:t>
            </a:r>
          </a:p>
          <a:p>
            <a:r>
              <a:rPr lang="en-US" sz="2200" dirty="0"/>
              <a:t>Production levels vary significantly across districts, indicating that output is concentrated in a few areas, which increases vulnerability to localized shocks. At the same time, population distribution is highly uneven, meaning food demand pressure differs substantially by district.</a:t>
            </a:r>
          </a:p>
          <a:p>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
        <p:nvSpPr>
          <p:cNvPr id="11" name="Picture Placeholder 10">
            <a:extLst>
              <a:ext uri="{FF2B5EF4-FFF2-40B4-BE49-F238E27FC236}">
                <a16:creationId xmlns:a16="http://schemas.microsoft.com/office/drawing/2014/main" id="{1D4FB995-E697-D012-8BAD-7EE0555F7896}"/>
              </a:ext>
            </a:extLst>
          </p:cNvPr>
          <p:cNvSpPr>
            <a:spLocks noGrp="1"/>
          </p:cNvSpPr>
          <p:nvPr>
            <p:ph type="pic" sz="quarter" idx="14"/>
          </p:nvPr>
        </p:nvSpPr>
        <p:spPr/>
      </p:sp>
      <p:pic>
        <p:nvPicPr>
          <p:cNvPr id="13" name="Picture 12">
            <a:extLst>
              <a:ext uri="{FF2B5EF4-FFF2-40B4-BE49-F238E27FC236}">
                <a16:creationId xmlns:a16="http://schemas.microsoft.com/office/drawing/2014/main" id="{88C5CEEA-825B-1FBA-A6A5-BB8BC8C8F805}"/>
              </a:ext>
            </a:extLst>
          </p:cNvPr>
          <p:cNvPicPr>
            <a:picLocks noChangeAspect="1"/>
          </p:cNvPicPr>
          <p:nvPr/>
        </p:nvPicPr>
        <p:blipFill>
          <a:blip r:embed="rId3"/>
          <a:stretch>
            <a:fillRect/>
          </a:stretch>
        </p:blipFill>
        <p:spPr>
          <a:xfrm>
            <a:off x="7556500" y="3405188"/>
            <a:ext cx="4635500" cy="3452811"/>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p:txBody>
          <a:bodyPr/>
          <a:lstStyle/>
          <a:p>
            <a:r>
              <a:rPr lang="en-US" dirty="0"/>
              <a:t>Dynamic Review</a:t>
            </a:r>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p:txBody>
          <a:bodyPr/>
          <a:lstStyle/>
          <a:p>
            <a:r>
              <a:rPr lang="en-US" sz="1400" dirty="0"/>
              <a:t>There is a substantial inequality in production per capita, particularly at the subcounty level. While the average production per capita is 46.06 at subcounty level, the very high standard deviation (45.93) and wide range (0.01 to 216.03) indicate extreme disparities</a:t>
            </a:r>
          </a:p>
          <a:p>
            <a:r>
              <a:rPr lang="en-US" sz="1400" dirty="0"/>
              <a:t>—some sub counties produce almost nothing per person, while others produce over four times the average. This suggests strong local imbalances in productivity or population distribution.</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p:txBody>
          <a:bodyPr/>
          <a:lstStyle/>
          <a:p>
            <a:fld id="{48F63A3B-78C7-47BE-AE5E-E10140E04643}" type="slidenum">
              <a:rPr lang="en-US" smtClean="0"/>
              <a:pPr/>
              <a:t>7</a:t>
            </a:fld>
            <a:endParaRPr lang="en-US" dirty="0"/>
          </a:p>
        </p:txBody>
      </p:sp>
      <p:pic>
        <p:nvPicPr>
          <p:cNvPr id="8" name="Content Placeholder 7">
            <a:extLst>
              <a:ext uri="{FF2B5EF4-FFF2-40B4-BE49-F238E27FC236}">
                <a16:creationId xmlns:a16="http://schemas.microsoft.com/office/drawing/2014/main" id="{8AA3FDFB-ED7F-1D17-81FA-95E4F3D6111F}"/>
              </a:ext>
            </a:extLst>
          </p:cNvPr>
          <p:cNvPicPr>
            <a:picLocks noGrp="1" noChangeAspect="1"/>
          </p:cNvPicPr>
          <p:nvPr>
            <p:ph sz="half" idx="1"/>
          </p:nvPr>
        </p:nvPicPr>
        <p:blipFill>
          <a:blip r:embed="rId3"/>
          <a:stretch>
            <a:fillRect/>
          </a:stretch>
        </p:blipFill>
        <p:spPr>
          <a:xfrm>
            <a:off x="5431630" y="1579635"/>
            <a:ext cx="6430169" cy="2443018"/>
          </a:xfrm>
        </p:spPr>
      </p:pic>
      <p:pic>
        <p:nvPicPr>
          <p:cNvPr id="10" name="Picture 9">
            <a:extLst>
              <a:ext uri="{FF2B5EF4-FFF2-40B4-BE49-F238E27FC236}">
                <a16:creationId xmlns:a16="http://schemas.microsoft.com/office/drawing/2014/main" id="{67033824-87FD-1502-D3CC-0770FF73BC82}"/>
              </a:ext>
            </a:extLst>
          </p:cNvPr>
          <p:cNvPicPr>
            <a:picLocks noChangeAspect="1"/>
          </p:cNvPicPr>
          <p:nvPr/>
        </p:nvPicPr>
        <p:blipFill>
          <a:blip r:embed="rId4"/>
          <a:stretch>
            <a:fillRect/>
          </a:stretch>
        </p:blipFill>
        <p:spPr>
          <a:xfrm>
            <a:off x="5513968" y="4184091"/>
            <a:ext cx="1952625" cy="2140509"/>
          </a:xfrm>
          <a:prstGeom prst="rect">
            <a:avLst/>
          </a:prstGeom>
        </p:spPr>
      </p:pic>
      <p:pic>
        <p:nvPicPr>
          <p:cNvPr id="12" name="Picture 11">
            <a:extLst>
              <a:ext uri="{FF2B5EF4-FFF2-40B4-BE49-F238E27FC236}">
                <a16:creationId xmlns:a16="http://schemas.microsoft.com/office/drawing/2014/main" id="{8B59B677-1F41-319B-C53B-BB94CE35049D}"/>
              </a:ext>
            </a:extLst>
          </p:cNvPr>
          <p:cNvPicPr>
            <a:picLocks noChangeAspect="1"/>
          </p:cNvPicPr>
          <p:nvPr/>
        </p:nvPicPr>
        <p:blipFill>
          <a:blip r:embed="rId5"/>
          <a:stretch>
            <a:fillRect/>
          </a:stretch>
        </p:blipFill>
        <p:spPr>
          <a:xfrm>
            <a:off x="8137525" y="4184091"/>
            <a:ext cx="1962150" cy="2140510"/>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p:txBody>
          <a:bodyPr/>
          <a:lstStyle/>
          <a:p>
            <a:r>
              <a:rPr lang="en-US" dirty="0"/>
              <a:t>Business Recommendations &amp; Future Opportunities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p:txBody>
          <a:bodyPr>
            <a:normAutofit/>
          </a:bodyPr>
          <a:lstStyle/>
          <a:p>
            <a:pPr marL="45720" indent="0">
              <a:buNone/>
            </a:pPr>
            <a:r>
              <a:rPr lang="en-US" b="1" dirty="0"/>
              <a:t>	Key Findings</a:t>
            </a:r>
          </a:p>
          <a:p>
            <a:r>
              <a:rPr lang="en-US" dirty="0"/>
              <a:t>Maize yield is statistically higher than sorghum (based on the describe function on the subcounty level).</a:t>
            </a:r>
          </a:p>
          <a:p>
            <a:r>
              <a:rPr lang="en-US" dirty="0"/>
              <a:t>Population density shows negative correlation with yield.</a:t>
            </a:r>
          </a:p>
          <a:p>
            <a:pPr marL="45720" indent="0">
              <a:buNone/>
            </a:pPr>
            <a:r>
              <a:rPr lang="en-US" b="1" dirty="0"/>
              <a:t>	Business Recommendations</a:t>
            </a:r>
          </a:p>
          <a:p>
            <a:r>
              <a:rPr lang="en-US" dirty="0"/>
              <a:t>Expand maize selectively in suitable zones- Scale high-performing crops strategically.</a:t>
            </a:r>
          </a:p>
          <a:p>
            <a:r>
              <a:rPr lang="en-US" dirty="0"/>
              <a:t>Maintain sorghum in drought-prone districts</a:t>
            </a:r>
          </a:p>
          <a:p>
            <a:r>
              <a:rPr lang="en-US" dirty="0"/>
              <a:t>Prioritize high-population districts for intervention- Prioritize high-risk sub counties for agricultural inputs.</a:t>
            </a:r>
          </a:p>
          <a:p>
            <a:r>
              <a:rPr lang="en-US" dirty="0"/>
              <a:t>Diversify crop allocation to reduce systemic vulnerability- Promote crop diversification in over-reliant areas.</a:t>
            </a:r>
          </a:p>
        </p:txBody>
      </p:sp>
      <p:sp>
        <p:nvSpPr>
          <p:cNvPr id="13" name="Content Placeholder 7">
            <a:extLst>
              <a:ext uri="{FF2B5EF4-FFF2-40B4-BE49-F238E27FC236}">
                <a16:creationId xmlns:a16="http://schemas.microsoft.com/office/drawing/2014/main" id="{0853098E-C088-D323-4BF2-987893F262F6}"/>
              </a:ext>
            </a:extLst>
          </p:cNvPr>
          <p:cNvSpPr>
            <a:spLocks noGrp="1"/>
          </p:cNvSpPr>
          <p:nvPr>
            <p:ph sz="half" idx="15"/>
          </p:nvPr>
        </p:nvSpPr>
        <p:spPr/>
        <p:txBody>
          <a:bodyPr/>
          <a:lstStyle/>
          <a:p>
            <a:pPr marL="45720" indent="0">
              <a:buNone/>
            </a:pPr>
            <a:r>
              <a:rPr lang="en-US" b="1" dirty="0"/>
              <a:t>	Future Work</a:t>
            </a:r>
          </a:p>
          <a:p>
            <a:r>
              <a:rPr lang="en-US" dirty="0"/>
              <a:t>Integrate rainfall and soil data</a:t>
            </a:r>
          </a:p>
          <a:p>
            <a:r>
              <a:rPr lang="en-US" dirty="0"/>
              <a:t>Include multi-year yield comparison</a:t>
            </a:r>
          </a:p>
          <a:p>
            <a:r>
              <a:rPr lang="en-US" dirty="0"/>
              <a:t>Develop predictive yield models</a:t>
            </a:r>
          </a:p>
          <a:p>
            <a:r>
              <a:rPr lang="en-US" dirty="0"/>
              <a:t>Incorporate satellite vegetation index</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p:txBody>
          <a:bodyPr>
            <a:normAutofit/>
          </a:bodyPr>
          <a:lstStyle/>
          <a:p>
            <a:pPr marL="0" indent="0">
              <a:buNone/>
            </a:pPr>
            <a:r>
              <a:rPr lang="en-US" sz="3600" dirty="0"/>
              <a:t>Thank </a:t>
            </a:r>
            <a:br>
              <a:rPr lang="en-US" sz="3600" dirty="0"/>
            </a:br>
            <a:r>
              <a:rPr lang="en-US" sz="3600" dirty="0"/>
              <a:t>you</a:t>
            </a: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p:txBody>
          <a:bodyPr/>
          <a:lstStyle/>
          <a:p>
            <a:r>
              <a:rPr lang="en-US" dirty="0"/>
              <a:t>Denis </a:t>
            </a:r>
            <a:r>
              <a:rPr lang="en-US" dirty="0" err="1"/>
              <a:t>Mwilaria</a:t>
            </a:r>
            <a:endParaRPr lang="en-US" dirty="0"/>
          </a:p>
          <a:p>
            <a:r>
              <a:rPr lang="en-US" dirty="0"/>
              <a:t>0726359802</a:t>
            </a:r>
          </a:p>
          <a:p>
            <a:r>
              <a:rPr lang="en-US" dirty="0"/>
              <a:t>Denis.mwilaria2@moringaschool.com</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fld id="{48F63A3B-78C7-47BE-AE5E-E10140E04643}" type="slidenum">
              <a:rPr lang="en-US" smtClean="0"/>
              <a:pPr/>
              <a:t>9</a:t>
            </a:fld>
            <a:endParaRPr lang="en-US" dirty="0"/>
          </a:p>
        </p:txBody>
      </p:sp>
      <p:pic>
        <p:nvPicPr>
          <p:cNvPr id="12" name="Picture Placeholder 11">
            <a:extLst>
              <a:ext uri="{FF2B5EF4-FFF2-40B4-BE49-F238E27FC236}">
                <a16:creationId xmlns:a16="http://schemas.microsoft.com/office/drawing/2014/main" id="{48F1F63A-39B8-2252-C3F8-193713C09C1B}"/>
              </a:ext>
            </a:extLst>
          </p:cNvPr>
          <p:cNvPicPr>
            <a:picLocks noGrp="1" noChangeAspect="1"/>
          </p:cNvPicPr>
          <p:nvPr>
            <p:ph type="pic" sz="quarter" idx="14"/>
          </p:nvPr>
        </p:nvPicPr>
        <p:blipFill>
          <a:blip r:embed="rId3"/>
          <a:srcRect l="31888" r="31888"/>
          <a:stretch>
            <a:fillRect/>
          </a:stretch>
        </p:blipFill>
        <p:spPr/>
      </p:pic>
    </p:spTree>
    <p:extLst>
      <p:ext uri="{BB962C8B-B14F-4D97-AF65-F5344CB8AC3E}">
        <p14:creationId xmlns:p14="http://schemas.microsoft.com/office/powerpoint/2010/main" val="1941619646"/>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TM03457444[[fn=Basis]]</Template>
  <TotalTime>780</TotalTime>
  <Words>423</Words>
  <Application>Microsoft Office PowerPoint</Application>
  <PresentationFormat>Widescreen</PresentationFormat>
  <Paragraphs>44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Corbel</vt:lpstr>
      <vt:lpstr>Basis</vt:lpstr>
      <vt:lpstr>Karamoja Crop Productivity &amp; Food Security Analysis</vt:lpstr>
      <vt:lpstr>Why This Analysis Matters</vt:lpstr>
      <vt:lpstr> Overview of Karamoja’s Agricultural Landscape</vt:lpstr>
      <vt:lpstr>Food Security Intensity Across Karamoja</vt:lpstr>
      <vt:lpstr>Population vs Yield</vt:lpstr>
      <vt:lpstr>Maize vs Sorghum Performance</vt:lpstr>
      <vt:lpstr>Dynamic Review</vt:lpstr>
      <vt:lpstr>Business Recommendations &amp; Future Opportunities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Denis Denno</dc:creator>
  <cp:lastModifiedBy>Denis Denno</cp:lastModifiedBy>
  <cp:revision>3</cp:revision>
  <dcterms:created xsi:type="dcterms:W3CDTF">2026-02-21T14:00:12Z</dcterms:created>
  <dcterms:modified xsi:type="dcterms:W3CDTF">2026-02-22T03:01:05Z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